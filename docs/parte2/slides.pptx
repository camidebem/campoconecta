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Fala: "Somos o CampoConecta. A Parte 2 é arquitetura: mostramos os quatro serviços, os contratos REST, o gateway com dois BFFs, os bancos separados, a SAGA e o CQRS."</a:t>
            </a:r>
          </a:p>
          <a:p>
            <a:r>
              <a:t>Se perguntarem 'cadê o código?': a Parte 2 é documental por definição do enunciado; a execução é a Parte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Fala: "A lei existe desde 2009, mas cumprir a cota é difícil na prática. O sistema organiza esse fluxo entre prefeitura, escola e produtor."</a:t>
            </a:r>
          </a:p>
          <a:p>
            <a:r>
              <a:t>Se perguntarem 'por que 30%?': é o mínimo legal do PNAE; o sistema não cria a regra, ele ajuda a cumpri-la.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Fala: "Cliente entra pelo gateway, que valida o token. O BFF adapta para o cliente e chama os serviços. Cada serviço tem seu banco. O que é assíncrono passa pelo RabbitMQ."</a:t>
            </a:r>
          </a:p>
          <a:p>
            <a:r>
              <a:t>Se perguntarem 'o BFF fala com o banco?': não. BFF agrega via API; banco é sempre do serviço dono.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Fala: "Demanda, oferta, compromisso e logística têm regras e prazos diferentes. Escola e prefeitura ficam em Editais porque são o lado da demanda; produtor fica em Ofertas porque produção e identidade evoluem juntas."</a:t>
            </a:r>
          </a:p>
          <a:p>
            <a:r>
              <a:t>Se perguntarem 'por que não um serviço por tabela?': aumentaria a comunicação sem criar fronteira de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Fala: "Os contratos estão em OpenAPI 3.1. O Compra devolve links de navegação — por exemplo, 'confirmar recebimento' só aparece para a escola com vínculo e entrega agendada."</a:t>
            </a:r>
          </a:p>
          <a:p>
            <a:r>
              <a:t>Se perguntarem 'quem monta os links?': o serviço Compras monta os seus; o BFF reescreve para o prefixo do gateway e acrescenta links de outros serviços.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Fala: "O gateway cuida de entrada e autenticação; a regra fica nos serviços. Os BFFs existem porque o portal e o aplicativo têm necessidades diferentes: volume, formato e rede."</a:t>
            </a:r>
          </a:p>
          <a:p>
            <a:r>
              <a:t>Se perguntarem 'por que não um BFF só?': o payload do portal carrega histórico e contexto; no mobile isso é custo de rede sem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Fala: "Se o serviço cair entre gravar e publicar, a mensagem fica pendente no outbox e o relay republica. Se publicar duas vezes, a inbox descarta a segunda."</a:t>
            </a:r>
          </a:p>
          <a:p>
            <a:r>
              <a:t>Se perguntarem 'e o saldo, não corre risco de vender duas vezes?': não — o UPDATE condicional é atômico e reavalia o saldo na linha já atualizada.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Fala: "A escolha foi orquestrada: um único lugar guarda o progresso e sabe o que compensar. A coreografia distribuiria o controle e dificultaria auditar."</a:t>
            </a:r>
          </a:p>
          <a:p>
            <a:r>
              <a:t>Se perguntarem 'por que Editais entrou?': para duas compras não estourarem a mesma demanda, mesmo com produção suficiente.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Fala: "O painel é supervisão, então 5 segundos de atraso é aceitável. Se a projeção se perder, reconstruímos pelas tabelas de escrita — o broker não guarda mensagem antiga."</a:t>
            </a:r>
          </a:p>
          <a:p>
            <a:r>
              <a:t>Se perguntarem 'isso é event sourcing?': não. O modelo de escrita é estado atual; a projeção é uma visão derivada.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Fala: "Qualquer ponto da rubrica tem um documento associado no README. Os contratos são validados por ferramenta, não por inspeção visual."</a:t>
            </a:r>
          </a:p>
          <a:p>
            <a:r>
              <a:t>Perguntas prováveis: 'o que acontece se o relay cair?', 'por que SAGA orquestrada?', 'por que só Compras tem CQRS?' — respostas nas notas dos slides 7, 8 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C3B1F"/>
                </a:solidFill>
                <a:latin typeface="Segoe UI"/>
              </a:rPr>
              <a:t>GCC129 · SISTEMAS DISTRIBUÍDOS · 2026/2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0C3B1F"/>
                </a:solidFill>
                <a:latin typeface="Bahnschrift"/>
              </a:rPr>
              <a:t>CampoConecta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0F1B14"/>
                </a:solidFill>
                <a:latin typeface="Segoe UI"/>
              </a:rPr>
              <a:t>Parte 2 — Arquitetura · projeto documentado, contratos e decisões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0">
                <a:solidFill>
                  <a:srgbClr val="0F1B14"/>
                </a:solidFill>
                <a:latin typeface="Segoe UI"/>
              </a:rPr>
              <a:t>Conecta a </a:t>
            </a:r>
            <a:r>
              <a:rPr sz="2400" b="1">
                <a:solidFill>
                  <a:srgbClr val="0C3B1F"/>
                </a:solidFill>
                <a:latin typeface="Segoe UI"/>
              </a:rPr>
              <a:t>agricultura familiar</a:t>
            </a:r>
            <a:r>
              <a:rPr sz="2400" b="0">
                <a:solidFill>
                  <a:srgbClr val="0F1B14"/>
                </a:solidFill>
                <a:latin typeface="Segoe UI"/>
              </a:rPr>
              <a:t> à merenda escolar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0">
                <a:solidFill>
                  <a:srgbClr val="0F1B14"/>
                </a:solidFill>
                <a:latin typeface="Segoe UI"/>
              </a:rPr>
              <a:t>Quatro serviços, dois clientes, dois BFFs, um banco por serviço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0">
                <a:solidFill>
                  <a:srgbClr val="0F1B14"/>
                </a:solidFill>
                <a:latin typeface="Segoe UI"/>
              </a:rPr>
              <a:t>Documentação verificável — </a:t>
            </a:r>
            <a:r>
              <a:rPr sz="2400" b="1">
                <a:solidFill>
                  <a:srgbClr val="0C3B1F"/>
                </a:solidFill>
                <a:latin typeface="Segoe UI"/>
              </a:rPr>
              <a:t>sem sistema em execução</a:t>
            </a:r>
            <a:r>
              <a:rPr sz="2400" b="0">
                <a:solidFill>
                  <a:srgbClr val="0F1B14"/>
                </a:solidFill>
                <a:latin typeface="Segoe UI"/>
              </a:rPr>
              <a:t> nesta etapa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81360" cy="868680"/>
          </a:xfrm>
          <a:prstGeom prst="roundRect">
            <a:avLst/>
          </a:prstGeom>
          <a:solidFill>
            <a:srgbClr val="0C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28600"/>
          <a:lstStyle/>
          <a:p>
            <a:pPr algn="ctr"/>
            <a:r>
              <a:rPr sz="1800" b="0">
                <a:solidFill>
                  <a:srgbClr val="F2FFE0"/>
                </a:solidFill>
                <a:latin typeface="Segoe UI"/>
              </a:rPr>
              <a:t>Nesta etapa entregamos o projeto: serviços, contratos, dados e os fluxos distribuídos.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532120"/>
            <a:ext cx="100584" cy="86868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0C3B1F"/>
                </a:solidFill>
                <a:latin typeface="Bahnschrift"/>
              </a:rPr>
              <a:t>O problema, em uma frase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52144"/>
            <a:ext cx="960120" cy="68580"/>
          </a:xfrm>
          <a:prstGeom prst="round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813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6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600" b="0">
                <a:solidFill>
                  <a:srgbClr val="0F1B14"/>
                </a:solidFill>
                <a:latin typeface="Segoe UI"/>
              </a:rPr>
              <a:t>A Lei 11.947/2009 exige </a:t>
            </a:r>
            <a:r>
              <a:rPr sz="2600" b="1">
                <a:solidFill>
                  <a:srgbClr val="0C3B1F"/>
                </a:solidFill>
                <a:latin typeface="Segoe UI"/>
              </a:rPr>
              <a:t>30% do FNDE</a:t>
            </a:r>
            <a:r>
              <a:rPr sz="2600" b="0">
                <a:solidFill>
                  <a:srgbClr val="0F1B14"/>
                </a:solidFill>
                <a:latin typeface="Segoe UI"/>
              </a:rPr>
              <a:t> em produtos da agricultura familiar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6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600" b="0">
                <a:solidFill>
                  <a:srgbClr val="0F1B14"/>
                </a:solidFill>
                <a:latin typeface="Segoe UI"/>
              </a:rPr>
              <a:t>Prefeituras não conseguem operar a cota: gestor despreparado + produtor desorganizado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6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600" b="0">
                <a:solidFill>
                  <a:srgbClr val="0F1B14"/>
                </a:solidFill>
                <a:latin typeface="Segoe UI"/>
              </a:rPr>
              <a:t>O CampoConecta digitaliza o caminho: </a:t>
            </a:r>
            <a:r>
              <a:rPr sz="2600" b="1">
                <a:solidFill>
                  <a:srgbClr val="0C3B1F"/>
                </a:solidFill>
                <a:latin typeface="Segoe UI"/>
              </a:rPr>
              <a:t>edital → proposta → alocação → entrega → pagamento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32120"/>
            <a:ext cx="10881360" cy="868680"/>
          </a:xfrm>
          <a:prstGeom prst="roundRect">
            <a:avLst/>
          </a:prstGeom>
          <a:solidFill>
            <a:srgbClr val="0C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28600"/>
          <a:lstStyle/>
          <a:p>
            <a:pPr algn="ctr"/>
            <a:r>
              <a:rPr sz="1800" b="0">
                <a:solidFill>
                  <a:srgbClr val="F2FFE0"/>
                </a:solidFill>
                <a:latin typeface="Segoe UI"/>
              </a:rPr>
              <a:t>Existe uma obrigação legal e uma lacuna operacional: é essa lacuna que o sistema resolve.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532120"/>
            <a:ext cx="100584" cy="86868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0C3B1F"/>
                </a:solidFill>
                <a:latin typeface="Bahnschrift"/>
              </a:rPr>
              <a:t>Arquitetura em uma imagem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52144"/>
            <a:ext cx="960120" cy="68580"/>
          </a:xfrm>
          <a:prstGeom prst="round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34640" y="1115568"/>
            <a:ext cx="2926080" cy="53035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6D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F1B14"/>
                </a:solidFill>
                <a:latin typeface="Segoe UI"/>
              </a:rPr>
              <a:t>Portal prefeitura/escola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15568"/>
            <a:ext cx="2926080" cy="53035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6D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F1B14"/>
                </a:solidFill>
                <a:latin typeface="Segoe UI"/>
              </a:rPr>
              <a:t>Aplicativo do produtor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71032" y="1664208"/>
            <a:ext cx="237744" cy="182880"/>
          </a:xfrm>
          <a:prstGeom prst="downArrow">
            <a:avLst/>
          </a:prstGeom>
          <a:solidFill>
            <a:srgbClr val="D6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94560" y="1874519"/>
            <a:ext cx="7863840" cy="54864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92400E"/>
                </a:solidFill>
                <a:latin typeface="Segoe UI"/>
              </a:rPr>
              <a:t>API Gateway (NGINX) · auth_request → authn-verify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71032" y="2450592"/>
            <a:ext cx="237744" cy="182880"/>
          </a:xfrm>
          <a:prstGeom prst="downArrow">
            <a:avLst/>
          </a:prstGeom>
          <a:solidFill>
            <a:srgbClr val="D6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670048"/>
            <a:ext cx="2926080" cy="530352"/>
          </a:xfrm>
          <a:prstGeom prst="roundRect">
            <a:avLst/>
          </a:prstGeom>
          <a:solidFill>
            <a:srgbClr val="F3E5F5"/>
          </a:solidFill>
          <a:ln w="317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4C1D95"/>
                </a:solidFill>
                <a:latin typeface="Segoe UI"/>
              </a:rPr>
              <a:t>BFF prefeitura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670048"/>
            <a:ext cx="2926080" cy="530352"/>
          </a:xfrm>
          <a:prstGeom prst="roundRect">
            <a:avLst/>
          </a:prstGeom>
          <a:solidFill>
            <a:srgbClr val="F3E5F5"/>
          </a:solidFill>
          <a:ln w="317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4C1D95"/>
                </a:solidFill>
                <a:latin typeface="Segoe UI"/>
              </a:rPr>
              <a:t>BFF produtor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71032" y="3227832"/>
            <a:ext cx="237744" cy="182880"/>
          </a:xfrm>
          <a:prstGeom prst="downArrow">
            <a:avLst/>
          </a:prstGeom>
          <a:solidFill>
            <a:srgbClr val="D6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17320" y="3447288"/>
            <a:ext cx="2240280" cy="530352"/>
          </a:xfrm>
          <a:prstGeom prst="roundRect">
            <a:avLst/>
          </a:prstGeom>
          <a:solidFill>
            <a:srgbClr val="EAF6DB"/>
          </a:solidFill>
          <a:ln w="317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C3B1F"/>
                </a:solidFill>
                <a:latin typeface="Segoe UI"/>
              </a:rPr>
              <a:t>Editais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40" y="3447288"/>
            <a:ext cx="2240280" cy="530352"/>
          </a:xfrm>
          <a:prstGeom prst="roundRect">
            <a:avLst/>
          </a:prstGeom>
          <a:solidFill>
            <a:srgbClr val="EAF6DB"/>
          </a:solidFill>
          <a:ln w="317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C3B1F"/>
                </a:solidFill>
                <a:latin typeface="Segoe UI"/>
              </a:rPr>
              <a:t>Ofertas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447288"/>
            <a:ext cx="2240280" cy="530352"/>
          </a:xfrm>
          <a:prstGeom prst="roundRect">
            <a:avLst/>
          </a:prstGeom>
          <a:solidFill>
            <a:srgbClr val="EAF6DB"/>
          </a:solidFill>
          <a:ln w="317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C3B1F"/>
                </a:solidFill>
                <a:latin typeface="Segoe UI"/>
              </a:rPr>
              <a:t>Compras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3447288"/>
            <a:ext cx="2240280" cy="530352"/>
          </a:xfrm>
          <a:prstGeom prst="roundRect">
            <a:avLst/>
          </a:prstGeom>
          <a:solidFill>
            <a:srgbClr val="EAF6DB"/>
          </a:solidFill>
          <a:ln w="317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C3B1F"/>
                </a:solidFill>
                <a:latin typeface="Segoe UI"/>
              </a:rPr>
              <a:t>Entregas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71032" y="4005072"/>
            <a:ext cx="237744" cy="182880"/>
          </a:xfrm>
          <a:prstGeom prst="downArrow">
            <a:avLst/>
          </a:prstGeom>
          <a:solidFill>
            <a:srgbClr val="D6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17320" y="4224528"/>
            <a:ext cx="2240280" cy="475488"/>
          </a:xfrm>
          <a:prstGeom prst="roundRect">
            <a:avLst/>
          </a:prstGeom>
          <a:solidFill>
            <a:srgbClr val="ECEFF1"/>
          </a:solidFill>
          <a:ln w="31750">
            <a:solidFill>
              <a:srgbClr val="607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F1B14"/>
                </a:solidFill>
                <a:latin typeface="Segoe UI"/>
              </a:rPr>
              <a:t>BD Editais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4224528"/>
            <a:ext cx="2240280" cy="475488"/>
          </a:xfrm>
          <a:prstGeom prst="roundRect">
            <a:avLst/>
          </a:prstGeom>
          <a:solidFill>
            <a:srgbClr val="ECEFF1"/>
          </a:solidFill>
          <a:ln w="31750">
            <a:solidFill>
              <a:srgbClr val="607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F1B14"/>
                </a:solidFill>
                <a:latin typeface="Segoe UI"/>
              </a:rPr>
              <a:t>BD Ofertas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4224528"/>
            <a:ext cx="2240280" cy="475488"/>
          </a:xfrm>
          <a:prstGeom prst="roundRect">
            <a:avLst/>
          </a:prstGeom>
          <a:solidFill>
            <a:srgbClr val="ECEFF1"/>
          </a:solidFill>
          <a:ln w="31750">
            <a:solidFill>
              <a:srgbClr val="607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F1B14"/>
                </a:solidFill>
                <a:latin typeface="Segoe UI"/>
              </a:rPr>
              <a:t>BD Compras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4224528"/>
            <a:ext cx="2240280" cy="475488"/>
          </a:xfrm>
          <a:prstGeom prst="roundRect">
            <a:avLst/>
          </a:prstGeom>
          <a:solidFill>
            <a:srgbClr val="ECEFF1"/>
          </a:solidFill>
          <a:ln w="31750">
            <a:solidFill>
              <a:srgbClr val="607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F1B14"/>
                </a:solidFill>
                <a:latin typeface="Segoe UI"/>
              </a:rPr>
              <a:t>BD Entregas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971032" y="4727448"/>
            <a:ext cx="237744" cy="182880"/>
          </a:xfrm>
          <a:prstGeom prst="downArrow">
            <a:avLst/>
          </a:prstGeom>
          <a:solidFill>
            <a:srgbClr val="D6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94560" y="4937760"/>
            <a:ext cx="7863840" cy="475488"/>
          </a:xfrm>
          <a:prstGeom prst="roundRect">
            <a:avLst/>
          </a:prstGeom>
          <a:solidFill>
            <a:srgbClr val="FCE4EC"/>
          </a:solidFill>
          <a:ln w="3175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880E4F"/>
                </a:solidFill>
                <a:latin typeface="Segoe UI"/>
              </a:rPr>
              <a:t>RabbitMQ — comandos, eventos, outbox/inbox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669280"/>
            <a:ext cx="10881360" cy="868680"/>
          </a:xfrm>
          <a:prstGeom prst="roundRect">
            <a:avLst/>
          </a:prstGeom>
          <a:solidFill>
            <a:srgbClr val="0C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28600"/>
          <a:lstStyle/>
          <a:p>
            <a:pPr algn="ctr"/>
            <a:r>
              <a:rPr sz="1800" b="0">
                <a:solidFill>
                  <a:srgbClr val="F2FFE0"/>
                </a:solidFill>
                <a:latin typeface="Segoe UI"/>
              </a:rPr>
              <a:t>A única porta de entrada é o gateway; cada serviço só escreve no seu banco.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669280"/>
            <a:ext cx="100584" cy="86868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0C3B1F"/>
                </a:solidFill>
                <a:latin typeface="Bahnschrift"/>
              </a:rPr>
              <a:t>Quatro serviços e por que esse corte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52144"/>
            <a:ext cx="960120" cy="68580"/>
          </a:xfrm>
          <a:prstGeom prst="round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813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6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600" b="1">
                <a:solidFill>
                  <a:srgbClr val="0C3B1F"/>
                </a:solidFill>
                <a:latin typeface="Segoe UI"/>
              </a:rPr>
              <a:t>Editais</a:t>
            </a:r>
            <a:r>
              <a:rPr sz="2600" b="0">
                <a:solidFill>
                  <a:srgbClr val="0F1B14"/>
                </a:solidFill>
                <a:latin typeface="Segoe UI"/>
              </a:rPr>
              <a:t> — demanda: prefeitura, escola, edital, saldo do item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6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600" b="1">
                <a:solidFill>
                  <a:srgbClr val="0C3B1F"/>
                </a:solidFill>
                <a:latin typeface="Segoe UI"/>
              </a:rPr>
              <a:t>Ofertas</a:t>
            </a:r>
            <a:r>
              <a:rPr sz="2600" b="0">
                <a:solidFill>
                  <a:srgbClr val="0F1B14"/>
                </a:solidFill>
                <a:latin typeface="Segoe UI"/>
              </a:rPr>
              <a:t> — produção: produtor, oferta, reserva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6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600" b="1">
                <a:solidFill>
                  <a:srgbClr val="0C3B1F"/>
                </a:solidFill>
                <a:latin typeface="Segoe UI"/>
              </a:rPr>
              <a:t>Compras</a:t>
            </a:r>
            <a:r>
              <a:rPr sz="2600" b="0">
                <a:solidFill>
                  <a:srgbClr val="0F1B14"/>
                </a:solidFill>
                <a:latin typeface="Segoe UI"/>
              </a:rPr>
              <a:t> — compromisso: proposta, plano, compra, SAGA, pagamento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6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600" b="1">
                <a:solidFill>
                  <a:srgbClr val="0C3B1F"/>
                </a:solidFill>
                <a:latin typeface="Segoe UI"/>
              </a:rPr>
              <a:t>Entregas</a:t>
            </a:r>
            <a:r>
              <a:rPr sz="2600" b="0">
                <a:solidFill>
                  <a:srgbClr val="0F1B14"/>
                </a:solidFill>
                <a:latin typeface="Segoe UI"/>
              </a:rPr>
              <a:t> — logística: capacidade, agendamento, recebimento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32120"/>
            <a:ext cx="10881360" cy="868680"/>
          </a:xfrm>
          <a:prstGeom prst="roundRect">
            <a:avLst/>
          </a:prstGeom>
          <a:solidFill>
            <a:srgbClr val="0C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28600"/>
          <a:lstStyle/>
          <a:p>
            <a:pPr algn="ctr"/>
            <a:r>
              <a:rPr sz="1800" b="0">
                <a:solidFill>
                  <a:srgbClr val="F2FFE0"/>
                </a:solidFill>
                <a:latin typeface="Segoe UI"/>
              </a:rPr>
              <a:t>Cortamos por ciclo de vida e regra própria, não por tabela — por isso não existe um "serviço de cadastros".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532120"/>
            <a:ext cx="100584" cy="86868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0C3B1F"/>
                </a:solidFill>
                <a:latin typeface="Bahnschrift"/>
              </a:rPr>
              <a:t>Contratos REST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52144"/>
            <a:ext cx="960120" cy="68580"/>
          </a:xfrm>
          <a:prstGeom prst="round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813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0">
                <a:solidFill>
                  <a:srgbClr val="0F1B14"/>
                </a:solidFill>
                <a:latin typeface="Segoe UI"/>
              </a:rPr>
              <a:t>OpenAPI 3.1: </a:t>
            </a:r>
            <a:r>
              <a:rPr sz="2400" b="1">
                <a:solidFill>
                  <a:srgbClr val="0C3B1F"/>
                </a:solidFill>
                <a:latin typeface="Segoe UI"/>
              </a:rPr>
              <a:t>4 serviços + 2 BFFs</a:t>
            </a:r>
            <a:r>
              <a:rPr sz="2400" b="0">
                <a:solidFill>
                  <a:srgbClr val="0F1B14"/>
                </a:solidFill>
                <a:latin typeface="Segoe UI"/>
              </a:rPr>
              <a:t>, todos sobre /api/v1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0">
                <a:solidFill>
                  <a:srgbClr val="0F1B14"/>
                </a:solidFill>
                <a:latin typeface="Segoe UI"/>
              </a:rPr>
              <a:t>Status com significado: </a:t>
            </a:r>
            <a:r>
              <a:rPr sz="2400" b="1">
                <a:solidFill>
                  <a:srgbClr val="0C3B1F"/>
                </a:solidFill>
                <a:latin typeface="Segoe UI"/>
              </a:rPr>
              <a:t>201</a:t>
            </a:r>
            <a:r>
              <a:rPr sz="2400" b="0">
                <a:solidFill>
                  <a:srgbClr val="0F1B14"/>
                </a:solidFill>
                <a:latin typeface="Segoe UI"/>
              </a:rPr>
              <a:t> criado, </a:t>
            </a:r>
            <a:r>
              <a:rPr sz="2400" b="1">
                <a:solidFill>
                  <a:srgbClr val="0C3B1F"/>
                </a:solidFill>
                <a:latin typeface="Segoe UI"/>
              </a:rPr>
              <a:t>202</a:t>
            </a:r>
            <a:r>
              <a:rPr sz="2400" b="0">
                <a:solidFill>
                  <a:srgbClr val="0F1B14"/>
                </a:solidFill>
                <a:latin typeface="Segoe UI"/>
              </a:rPr>
              <a:t> assíncrono, </a:t>
            </a:r>
            <a:r>
              <a:rPr sz="2400" b="1">
                <a:solidFill>
                  <a:srgbClr val="0C3B1F"/>
                </a:solidFill>
                <a:latin typeface="Segoe UI"/>
              </a:rPr>
              <a:t>409</a:t>
            </a:r>
            <a:r>
              <a:rPr sz="2400" b="0">
                <a:solidFill>
                  <a:srgbClr val="0F1B14"/>
                </a:solidFill>
                <a:latin typeface="Segoe UI"/>
              </a:rPr>
              <a:t> conflito, </a:t>
            </a:r>
            <a:r>
              <a:rPr sz="2400" b="1">
                <a:solidFill>
                  <a:srgbClr val="0C3B1F"/>
                </a:solidFill>
                <a:latin typeface="Segoe UI"/>
              </a:rPr>
              <a:t>503</a:t>
            </a:r>
            <a:r>
              <a:rPr sz="2400" b="0">
                <a:solidFill>
                  <a:srgbClr val="0F1B14"/>
                </a:solidFill>
                <a:latin typeface="Segoe UI"/>
              </a:rPr>
              <a:t> dependência fora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0">
                <a:solidFill>
                  <a:srgbClr val="0F1B14"/>
                </a:solidFill>
                <a:latin typeface="Segoe UI"/>
              </a:rPr>
              <a:t>Versionamento: evolução compatível mantém v1; quebra exige nova versão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1">
                <a:solidFill>
                  <a:srgbClr val="0C3B1F"/>
                </a:solidFill>
                <a:latin typeface="Segoe UI"/>
              </a:rPr>
              <a:t>HATEOAS</a:t>
            </a:r>
            <a:r>
              <a:rPr sz="2400" b="0">
                <a:solidFill>
                  <a:srgbClr val="0F1B14"/>
                </a:solidFill>
                <a:latin typeface="Segoe UI"/>
              </a:rPr>
              <a:t> no recurso Compra: links variam por estado e papel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32120"/>
            <a:ext cx="10881360" cy="868680"/>
          </a:xfrm>
          <a:prstGeom prst="roundRect">
            <a:avLst/>
          </a:prstGeom>
          <a:solidFill>
            <a:srgbClr val="0C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28600"/>
          <a:lstStyle/>
          <a:p>
            <a:pPr algn="ctr"/>
            <a:r>
              <a:rPr sz="1800" b="0">
                <a:solidFill>
                  <a:srgbClr val="F2FFE0"/>
                </a:solidFill>
                <a:latin typeface="Segoe UI"/>
              </a:rPr>
              <a:t>O contrato é executável: validamos os seis arquivos com Redocly e um script de cobertura.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532120"/>
            <a:ext cx="100584" cy="86868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0C3B1F"/>
                </a:solidFill>
                <a:latin typeface="Bahnschrift"/>
              </a:rPr>
              <a:t>Gateway e dois BFFs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52144"/>
            <a:ext cx="960120" cy="68580"/>
          </a:xfrm>
          <a:prstGeom prst="round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49240" cy="2194560"/>
          </a:xfrm>
          <a:prstGeom prst="roundRect">
            <a:avLst/>
          </a:prstGeom>
          <a:solidFill>
            <a:srgbClr val="FEF2F2"/>
          </a:solidFill>
          <a:ln w="3175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0">
                <a:solidFill>
                  <a:srgbClr val="991B1B"/>
                </a:solidFill>
                <a:latin typeface="Segoe UI"/>
              </a:rPr>
              <a:t>Gateway (NGINX)</a:t>
            </a:r>
          </a:p>
          <a:p>
            <a:r>
              <a:rPr sz="1900" b="0">
                <a:solidFill>
                  <a:srgbClr val="991B1B"/>
                </a:solidFill>
                <a:latin typeface="Segoe UI"/>
              </a:rPr>
              <a:t>Entrada única, TLS, auth_request → JWT validado no authn-verify, rate limit, CORS, correlation-id.</a:t>
            </a:r>
          </a:p>
          <a:p>
            <a:r>
              <a:rPr sz="1900" b="0">
                <a:solidFill>
                  <a:srgbClr val="991B1B"/>
                </a:solidFill>
                <a:latin typeface="Segoe UI"/>
              </a:rPr>
              <a:t>Não agrega e não aplica regra de negócio.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303520" cy="2194560"/>
          </a:xfrm>
          <a:prstGeom prst="roundRect">
            <a:avLst/>
          </a:prstGeom>
          <a:solidFill>
            <a:srgbClr val="EAF6DB"/>
          </a:solidFill>
          <a:ln w="3175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0">
                <a:solidFill>
                  <a:srgbClr val="0C3B1F"/>
                </a:solidFill>
                <a:latin typeface="Segoe UI"/>
              </a:rPr>
              <a:t>Dois BFFs, dois clientes</a:t>
            </a:r>
          </a:p>
          <a:p>
            <a:r>
              <a:rPr sz="1900" b="0">
                <a:solidFill>
                  <a:srgbClr val="0C3B1F"/>
                </a:solidFill>
                <a:latin typeface="Segoe UI"/>
              </a:rPr>
              <a:t>Prefeitura: tela ampla, página de 50, objetos aninhados, dashboard.</a:t>
            </a:r>
          </a:p>
          <a:p>
            <a:r>
              <a:rPr sz="1900" b="0">
                <a:solidFill>
                  <a:srgbClr val="0C3B1F"/>
                </a:solidFill>
                <a:latin typeface="Segoe UI"/>
              </a:rPr>
              <a:t>Produtor: mobile, cursor de 10, payload achatado, ETag.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881360" cy="868680"/>
          </a:xfrm>
          <a:prstGeom prst="roundRect">
            <a:avLst/>
          </a:prstGeom>
          <a:solidFill>
            <a:srgbClr val="0C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28600"/>
          <a:lstStyle/>
          <a:p>
            <a:pPr algn="ctr"/>
            <a:r>
              <a:rPr sz="1800" b="0">
                <a:solidFill>
                  <a:srgbClr val="F2FFE0"/>
                </a:solidFill>
                <a:latin typeface="Segoe UI"/>
              </a:rPr>
              <a:t>Mesmo recurso, respostas diferentes: o portal vê contexto; o aplicativo vê só o essencial.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532120"/>
            <a:ext cx="100584" cy="86868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0C3B1F"/>
                </a:solidFill>
                <a:latin typeface="Bahnschrift"/>
              </a:rPr>
              <a:t>Um banco por serviço — e o outbox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52144"/>
            <a:ext cx="960120" cy="68580"/>
          </a:xfrm>
          <a:prstGeom prst="round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200" b="0">
                <a:solidFill>
                  <a:srgbClr val="0F1B14"/>
                </a:solidFill>
                <a:latin typeface="Segoe UI"/>
              </a:rPr>
              <a:t>Quatro instâncias </a:t>
            </a:r>
            <a:r>
              <a:rPr sz="2200" b="1">
                <a:solidFill>
                  <a:srgbClr val="0C3B1F"/>
                </a:solidFill>
                <a:latin typeface="Segoe UI"/>
              </a:rPr>
              <a:t>PostgreSQL</a:t>
            </a:r>
            <a:r>
              <a:rPr sz="2200" b="0">
                <a:solidFill>
                  <a:srgbClr val="0F1B14"/>
                </a:solidFill>
                <a:latin typeface="Segoe UI"/>
              </a:rPr>
              <a:t>, usuário próprio, </a:t>
            </a:r>
            <a:r>
              <a:rPr sz="2200" b="1">
                <a:solidFill>
                  <a:srgbClr val="0C3B1F"/>
                </a:solidFill>
                <a:latin typeface="Segoe UI"/>
              </a:rPr>
              <a:t>sem FK entre bancos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200" b="0">
                <a:solidFill>
                  <a:srgbClr val="0F1B14"/>
                </a:solidFill>
                <a:latin typeface="Segoe UI"/>
              </a:rPr>
              <a:t>Dado de outro serviço vira </a:t>
            </a:r>
            <a:r>
              <a:rPr sz="2200" b="1">
                <a:solidFill>
                  <a:srgbClr val="0C3B1F"/>
                </a:solidFill>
                <a:latin typeface="Segoe UI"/>
              </a:rPr>
              <a:t>snapshot</a:t>
            </a:r>
            <a:r>
              <a:rPr sz="2200" b="0">
                <a:solidFill>
                  <a:srgbClr val="0F1B14"/>
                </a:solidFill>
                <a:latin typeface="Segoe UI"/>
              </a:rPr>
              <a:t> com snapshotAt, nunca fonte de verdade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200" b="0">
                <a:solidFill>
                  <a:srgbClr val="0F1B14"/>
                </a:solidFill>
                <a:latin typeface="Segoe UI"/>
              </a:rPr>
              <a:t>Reservas por UPDATE condicional: saldo &gt;= quantidade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200" b="1">
                <a:solidFill>
                  <a:srgbClr val="0C3B1F"/>
                </a:solidFill>
                <a:latin typeface="Segoe UI"/>
              </a:rPr>
              <a:t>Dual write eliminado</a:t>
            </a:r>
            <a:r>
              <a:rPr sz="2200" b="0">
                <a:solidFill>
                  <a:srgbClr val="0F1B14"/>
                </a:solidFill>
                <a:latin typeface="Segoe UI"/>
              </a:rPr>
              <a:t>: entidade e linha do outbox na mesma transação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200" b="0">
                <a:solidFill>
                  <a:srgbClr val="0F1B14"/>
                </a:solidFill>
                <a:latin typeface="Segoe UI"/>
              </a:rPr>
              <a:t>Consumidor grava messageId na inbox → entrega repetida, efeito único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32120"/>
            <a:ext cx="10881360" cy="868680"/>
          </a:xfrm>
          <a:prstGeom prst="roundRect">
            <a:avLst/>
          </a:prstGeom>
          <a:solidFill>
            <a:srgbClr val="0C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28600"/>
          <a:lstStyle/>
          <a:p>
            <a:pPr algn="ctr"/>
            <a:r>
              <a:rPr sz="1800" b="0">
                <a:solidFill>
                  <a:srgbClr val="F2FFE0"/>
                </a:solidFill>
                <a:latin typeface="Segoe UI"/>
              </a:rPr>
              <a:t>Não usamos transação distribuída: outbox resolve o dual write e a inbox garante idempotência.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532120"/>
            <a:ext cx="100584" cy="86868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0C3B1F"/>
                </a:solidFill>
                <a:latin typeface="Bahnschrift"/>
              </a:rPr>
              <a:t>SAGA: confirmar a compra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52144"/>
            <a:ext cx="960120" cy="68580"/>
          </a:xfrm>
          <a:prstGeom prst="round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813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1">
                <a:solidFill>
                  <a:srgbClr val="0C3B1F"/>
                </a:solidFill>
                <a:latin typeface="Segoe UI"/>
              </a:rPr>
              <a:t>Orquestrada</a:t>
            </a:r>
            <a:r>
              <a:rPr sz="2400" b="0">
                <a:solidFill>
                  <a:srgbClr val="0F1B14"/>
                </a:solidFill>
                <a:latin typeface="Segoe UI"/>
              </a:rPr>
              <a:t> em Compras — estado em saga_compra e saga_operacao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0">
                <a:solidFill>
                  <a:srgbClr val="0F1B14"/>
                </a:solidFill>
                <a:latin typeface="Segoe UI"/>
              </a:rPr>
              <a:t>Homologação cria N compras → </a:t>
            </a:r>
            <a:r>
              <a:rPr sz="2400" b="1">
                <a:solidFill>
                  <a:srgbClr val="0C3B1F"/>
                </a:solidFill>
                <a:latin typeface="Segoe UI"/>
              </a:rPr>
              <a:t>uma SAGA por compra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0">
                <a:solidFill>
                  <a:srgbClr val="0F1B14"/>
                </a:solidFill>
                <a:latin typeface="Segoe UI"/>
              </a:rPr>
              <a:t>Passos: </a:t>
            </a:r>
            <a:r>
              <a:rPr sz="2400" b="1">
                <a:solidFill>
                  <a:srgbClr val="0C3B1F"/>
                </a:solidFill>
                <a:latin typeface="Segoe UI"/>
              </a:rPr>
              <a:t>AlocarDemanda</a:t>
            </a:r>
            <a:r>
              <a:rPr sz="2400" b="0">
                <a:solidFill>
                  <a:srgbClr val="0F1B14"/>
                </a:solidFill>
                <a:latin typeface="Segoe UI"/>
              </a:rPr>
              <a:t> (Editais) → </a:t>
            </a:r>
            <a:r>
              <a:rPr sz="2400" b="1">
                <a:solidFill>
                  <a:srgbClr val="0C3B1F"/>
                </a:solidFill>
                <a:latin typeface="Segoe UI"/>
              </a:rPr>
              <a:t>ReservarOferta</a:t>
            </a:r>
            <a:r>
              <a:rPr sz="2400" b="0">
                <a:solidFill>
                  <a:srgbClr val="0F1B14"/>
                </a:solidFill>
                <a:latin typeface="Segoe UI"/>
              </a:rPr>
              <a:t> (Ofertas) → </a:t>
            </a:r>
            <a:r>
              <a:rPr sz="2400" b="1">
                <a:solidFill>
                  <a:srgbClr val="0C3B1F"/>
                </a:solidFill>
                <a:latin typeface="Segoe UI"/>
              </a:rPr>
              <a:t>AgendarEntrega</a:t>
            </a:r>
            <a:r>
              <a:rPr sz="2400" b="0">
                <a:solidFill>
                  <a:srgbClr val="0F1B14"/>
                </a:solidFill>
                <a:latin typeface="Segoe UI"/>
              </a:rPr>
              <a:t> (Entregas) → concluir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0">
                <a:solidFill>
                  <a:srgbClr val="0F1B14"/>
                </a:solidFill>
                <a:latin typeface="Segoe UI"/>
              </a:rPr>
              <a:t>Falha no agendamento: </a:t>
            </a:r>
            <a:r>
              <a:rPr sz="2400" b="1">
                <a:solidFill>
                  <a:srgbClr val="0C3B1F"/>
                </a:solidFill>
                <a:latin typeface="Segoe UI"/>
              </a:rPr>
              <a:t>LiberarOferta</a:t>
            </a:r>
            <a:r>
              <a:rPr sz="2400" b="0">
                <a:solidFill>
                  <a:srgbClr val="0F1B14"/>
                </a:solidFill>
                <a:latin typeface="Segoe UI"/>
              </a:rPr>
              <a:t> + </a:t>
            </a:r>
            <a:r>
              <a:rPr sz="2400" b="1">
                <a:solidFill>
                  <a:srgbClr val="0C3B1F"/>
                </a:solidFill>
                <a:latin typeface="Segoe UI"/>
              </a:rPr>
              <a:t>LiberarDemanda</a:t>
            </a:r>
            <a:r>
              <a:rPr sz="2400" b="0">
                <a:solidFill>
                  <a:srgbClr val="0F1B14"/>
                </a:solidFill>
                <a:latin typeface="Segoe UI"/>
              </a:rPr>
              <a:t> → compra CANCELADA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32120"/>
            <a:ext cx="10881360" cy="868680"/>
          </a:xfrm>
          <a:prstGeom prst="roundRect">
            <a:avLst/>
          </a:prstGeom>
          <a:solidFill>
            <a:srgbClr val="0C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28600"/>
          <a:lstStyle/>
          <a:p>
            <a:pPr algn="ctr"/>
            <a:r>
              <a:rPr sz="1800" b="0">
                <a:solidFill>
                  <a:srgbClr val="F2FFE0"/>
                </a:solidFill>
                <a:latin typeface="Segoe UI"/>
              </a:rPr>
              <a:t>Quatro serviços, quatro passos e três compensações: a compra só cancela depois de desfazer tudo.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532120"/>
            <a:ext cx="100584" cy="86868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0C3B1F"/>
                </a:solidFill>
                <a:latin typeface="Bahnschrift"/>
              </a:rPr>
              <a:t>CQRS em Compras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52144"/>
            <a:ext cx="960120" cy="68580"/>
          </a:xfrm>
          <a:prstGeom prst="round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49240" cy="2194560"/>
          </a:xfrm>
          <a:prstGeom prst="roundRect">
            <a:avLst/>
          </a:prstGeom>
          <a:solidFill>
            <a:srgbClr val="FEF2F2"/>
          </a:solidFill>
          <a:ln w="31750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0">
                <a:solidFill>
                  <a:srgbClr val="991B1B"/>
                </a:solidFill>
                <a:latin typeface="Segoe UI"/>
              </a:rPr>
              <a:t>Sem projeção</a:t>
            </a:r>
          </a:p>
          <a:p>
            <a:r>
              <a:rPr sz="2000" b="0">
                <a:solidFill>
                  <a:srgbClr val="991B1B"/>
                </a:solidFill>
                <a:latin typeface="Segoe UI"/>
              </a:rPr>
              <a:t>Acompanhar uma compra exigiria 4 chamadas — Editais, Ofertas, Compras e Entregas — e remontar a SAGA no cliente.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303520" cy="2194560"/>
          </a:xfrm>
          <a:prstGeom prst="roundRect">
            <a:avLst/>
          </a:prstGeom>
          <a:solidFill>
            <a:srgbClr val="EAF6DB"/>
          </a:solidFill>
          <a:ln w="31750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0">
                <a:solidFill>
                  <a:srgbClr val="0C3B1F"/>
                </a:solidFill>
                <a:latin typeface="Segoe UI"/>
              </a:rPr>
              <a:t>Com a projeção</a:t>
            </a:r>
          </a:p>
          <a:p>
            <a:r>
              <a:rPr sz="2000" b="0">
                <a:solidFill>
                  <a:srgbClr val="0C3B1F"/>
                </a:solidFill>
                <a:latin typeface="Segoe UI"/>
              </a:rPr>
              <a:t>Uma consulta em acompanhamento_compra, atualizada por evento, com versao para não regredir.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200" b="0">
                <a:solidFill>
                  <a:srgbClr val="0F1B14"/>
                </a:solidFill>
                <a:latin typeface="Segoe UI"/>
              </a:rPr>
              <a:t>Defasagem aceitável: </a:t>
            </a:r>
            <a:r>
              <a:rPr sz="2200" b="1">
                <a:solidFill>
                  <a:srgbClr val="0C3B1F"/>
                </a:solidFill>
                <a:latin typeface="Segoe UI"/>
              </a:rPr>
              <a:t>até 5 s</a:t>
            </a:r>
            <a:r>
              <a:rPr sz="2200" b="0">
                <a:solidFill>
                  <a:srgbClr val="0F1B14"/>
                </a:solidFill>
                <a:latin typeface="Segoe UI"/>
              </a:rPr>
              <a:t> (meta declarada, ainda não medida)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200" b="0">
                <a:solidFill>
                  <a:srgbClr val="0F1B14"/>
                </a:solidFill>
                <a:latin typeface="Segoe UI"/>
              </a:rPr>
              <a:t>Reconstrução a partir das tabelas de escrita — </a:t>
            </a:r>
            <a:r>
              <a:rPr sz="2200" b="1">
                <a:solidFill>
                  <a:srgbClr val="0C3B1F"/>
                </a:solidFill>
                <a:latin typeface="Segoe UI"/>
              </a:rPr>
              <a:t>sem replay do broker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532120"/>
            <a:ext cx="10881360" cy="868680"/>
          </a:xfrm>
          <a:prstGeom prst="roundRect">
            <a:avLst/>
          </a:prstGeom>
          <a:solidFill>
            <a:srgbClr val="0C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28600"/>
          <a:lstStyle/>
          <a:p>
            <a:pPr algn="ctr"/>
            <a:r>
              <a:rPr sz="1800" b="0">
                <a:solidFill>
                  <a:srgbClr val="F2FFE0"/>
                </a:solidFill>
                <a:latin typeface="Segoe UI"/>
              </a:rPr>
              <a:t>A projeção é só leitura: saldo, autorização e pagamento continuam decididos no serviço dono.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532120"/>
            <a:ext cx="100584" cy="86868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0C3B1F"/>
                </a:solidFill>
                <a:latin typeface="Bahnschrift"/>
              </a:rPr>
              <a:t>Onde verificar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52144"/>
            <a:ext cx="960120" cy="68580"/>
          </a:xfrm>
          <a:prstGeom prst="round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813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0">
                <a:solidFill>
                  <a:srgbClr val="0F1B14"/>
                </a:solidFill>
                <a:latin typeface="Segoe UI"/>
              </a:rPr>
              <a:t>README: tabela de </a:t>
            </a:r>
            <a:r>
              <a:rPr sz="2400" b="1">
                <a:solidFill>
                  <a:srgbClr val="0C3B1F"/>
                </a:solidFill>
                <a:latin typeface="Segoe UI"/>
              </a:rPr>
              <a:t>cobertura da rubrica</a:t>
            </a:r>
            <a:r>
              <a:rPr sz="2400" b="0">
                <a:solidFill>
                  <a:srgbClr val="0F1B14"/>
                </a:solidFill>
                <a:latin typeface="Segoe UI"/>
              </a:rPr>
              <a:t> — critério, peso e documento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1">
                <a:solidFill>
                  <a:srgbClr val="0C3B1F"/>
                </a:solidFill>
                <a:latin typeface="Segoe UI"/>
              </a:rPr>
              <a:t>docs/parte2/01..06</a:t>
            </a:r>
            <a:r>
              <a:rPr sz="2400" b="0">
                <a:solidFill>
                  <a:srgbClr val="0F1B14"/>
                </a:solidFill>
                <a:latin typeface="Segoe UI"/>
              </a:rPr>
              <a:t>: serviços, dados/outbox, CQRS, gateway/BFFs, SAGA e mensagens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1">
                <a:solidFill>
                  <a:srgbClr val="0C3B1F"/>
                </a:solidFill>
                <a:latin typeface="Segoe UI"/>
              </a:rPr>
              <a:t>docs/adr/</a:t>
            </a:r>
            <a:r>
              <a:rPr sz="2400" b="0">
                <a:solidFill>
                  <a:srgbClr val="0F1B14"/>
                </a:solidFill>
                <a:latin typeface="Segoe UI"/>
              </a:rPr>
              <a:t>: sete decisões com alternativas e consequências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1">
                <a:solidFill>
                  <a:srgbClr val="0C3B1F"/>
                </a:solidFill>
                <a:latin typeface="Segoe UI"/>
              </a:rPr>
              <a:t>•  </a:t>
            </a:r>
            <a:r>
              <a:rPr sz="2400" b="0">
                <a:solidFill>
                  <a:srgbClr val="0F1B14"/>
                </a:solidFill>
                <a:latin typeface="Segoe UI"/>
              </a:rPr>
              <a:t>Validação: redocly lint nos seis contratos + verificar-contratos.cjs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32120"/>
            <a:ext cx="10881360" cy="868680"/>
          </a:xfrm>
          <a:prstGeom prst="roundRect">
            <a:avLst/>
          </a:prstGeom>
          <a:solidFill>
            <a:srgbClr val="0C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28600"/>
          <a:lstStyle/>
          <a:p>
            <a:pPr algn="ctr"/>
            <a:r>
              <a:rPr sz="1800" b="0">
                <a:solidFill>
                  <a:srgbClr val="F2FFE0"/>
                </a:solidFill>
                <a:latin typeface="Segoe UI"/>
              </a:rPr>
              <a:t>Tudo é rastreável a partir do README: o critério, o documento e a evidência.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532120"/>
            <a:ext cx="100584" cy="86868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CampoConecta — Parte 2: Arquitetura</dc:title>
  <dc:subject>GCC129 — Sistemas Distribuídos</dc:subject>
  <dc:creator>CampoConecta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